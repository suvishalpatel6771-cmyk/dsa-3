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wrap="square" anchor="t"/>
          <a:lstStyle/>
          <a:p>
            <a:pPr algn="ctr"/>
            <a:r>
              <a:rPr sz="3800" b="1">
                <a:solidFill>
                  <a:srgbClr val="BE0000"/>
                </a:solidFill>
                <a:latin typeface="Calibri"/>
              </a:rPr>
              <a:t>Data Structures and Algorithms -3
(25CS2103E)
Store Location Optimization</a:t>
            </a:r>
          </a:p>
        </p:txBody>
      </p:sp>
      <p:sp>
        <p:nvSpPr>
          <p:cNvPr id="3" name="Subtitle 2"/>
          <p:cNvSpPr>
            <a:spLocks noGrp="1"/>
          </p:cNvSpPr>
          <p:nvPr>
            <p:ph type="subTitle" idx="1"/>
          </p:nvPr>
        </p:nvSpPr>
        <p:spPr>
          <a:xfrm>
            <a:off x="4270160" y="3513524"/>
            <a:ext cx="4551284" cy="1396014"/>
          </a:xfrm>
        </p:spPr>
        <p:txBody>
          <a:bodyPr wrap="square" anchor="t"/>
          <a:lstStyle/>
          <a:p>
            <a:pPr algn="ctr"/>
            <a:r>
              <a:rPr sz="1800" b="0">
                <a:solidFill>
                  <a:srgbClr val="0064BE"/>
                </a:solidFill>
                <a:latin typeface="Calibri"/>
              </a:rPr>
              <a:t>Team Members
Gyanadeep — 2520080008
Suvishal — 2520090195
G. Mahidhar — 2520090138
KL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square" rtlCol="0" anchor="t">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sz="2500" b="0">
                <a:solidFill>
                  <a:srgbClr val="232323"/>
                </a:solidFill>
                <a:latin typeface="Calibri"/>
              </a:rPr>
              <a:t>Abstract
Introduction
Literature Survey
Problem Statement and Objectives
Algorithms &amp; Approach
Hardware and Software Requirements
Results
Conclusion
Future Scope</a:t>
            </a: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nchor="t">
            <a:spAutoFit/>
          </a:bodyPr>
          <a:lstStyle/>
          <a:p>
            <a:pPr algn="ctr"/>
            <a:r>
              <a:rPr sz="3200" b="1">
                <a:solidFill>
                  <a:srgbClr val="BE0000"/>
                </a:solidFill>
                <a:latin typeface="Calibri"/>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nchor="t">
            <a:spAutoFit/>
          </a:bodyPr>
          <a:lstStyle/>
          <a:p>
            <a:pPr algn="ctr"/>
            <a:r>
              <a:rPr sz="3000" b="1">
                <a:solidFill>
                  <a:srgbClr val="FFFFFF"/>
                </a:solidFill>
                <a:latin typeface="Calibri"/>
              </a:rPr>
              <a:t>Abstract</a:t>
            </a:r>
          </a:p>
        </p:txBody>
      </p:sp>
      <p:sp>
        <p:nvSpPr>
          <p:cNvPr id="4" name="TextBox 3"/>
          <p:cNvSpPr txBox="1"/>
          <p:nvPr/>
        </p:nvSpPr>
        <p:spPr>
          <a:xfrm>
            <a:off x="2331720" y="1234440"/>
            <a:ext cx="8549640" cy="4754880"/>
          </a:xfrm>
          <a:prstGeom prst="rect">
            <a:avLst/>
          </a:prstGeom>
          <a:noFill/>
        </p:spPr>
        <p:txBody>
          <a:bodyPr wrap="square" anchor="t">
            <a:spAutoFit/>
          </a:bodyPr>
          <a:lstStyle/>
          <a:p>
            <a:pPr>
              <a:spcAft>
                <a:spcPts val="1000"/>
              </a:spcAft>
              <a:defRPr sz="2200">
                <a:solidFill>
                  <a:srgbClr val="232323"/>
                </a:solidFill>
                <a:latin typeface="Calibri"/>
              </a:defRPr>
            </a:pPr>
            <a:r>
              <a:t>Store Location Optimization selects the best retail store locations while minimizing total operational costs. It uses the Facility Location Problem to balance opening expenses with customer travel distances. Greedy and Primal-Dual approximation algorithms help find near-optimal solutions efficiently. The result is smarter expansion decisions and improved customer convenience.</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nchor="t">
            <a:spAutoFit/>
          </a:bodyPr>
          <a:lstStyle/>
          <a:p>
            <a:pPr algn="ctr"/>
            <a:r>
              <a:rPr sz="3000" b="1">
                <a:solidFill>
                  <a:srgbClr val="FFFFFF"/>
                </a:solidFill>
                <a:latin typeface="Calibri"/>
              </a:rPr>
              <a:t>Introduction</a:t>
            </a:r>
          </a:p>
        </p:txBody>
      </p:sp>
      <p:sp>
        <p:nvSpPr>
          <p:cNvPr id="4" name="TextBox 3"/>
          <p:cNvSpPr txBox="1"/>
          <p:nvPr/>
        </p:nvSpPr>
        <p:spPr>
          <a:xfrm>
            <a:off x="2331720" y="1234440"/>
            <a:ext cx="8549640" cy="4754880"/>
          </a:xfrm>
          <a:prstGeom prst="rect">
            <a:avLst/>
          </a:prstGeom>
          <a:noFill/>
        </p:spPr>
        <p:txBody>
          <a:bodyPr wrap="square" anchor="t">
            <a:spAutoFit/>
          </a:bodyPr>
          <a:lstStyle/>
          <a:p>
            <a:pPr>
              <a:spcAft>
                <a:spcPts val="900"/>
              </a:spcAft>
              <a:defRPr sz="2300">
                <a:solidFill>
                  <a:srgbClr val="232323"/>
                </a:solidFill>
                <a:latin typeface="Calibri"/>
              </a:defRPr>
            </a:pPr>
            <a:r>
              <a:t>• Core Challenge — Minimize store opening costs and customer travel distances.</a:t>
            </a:r>
          </a:p>
          <a:p>
            <a:pPr>
              <a:spcAft>
                <a:spcPts val="900"/>
              </a:spcAft>
              <a:defRPr sz="2300">
                <a:solidFill>
                  <a:srgbClr val="232323"/>
                </a:solidFill>
                <a:latin typeface="Calibri"/>
              </a:defRPr>
            </a:pPr>
            <a:r>
              <a:t>• Why It Matters — Customer satisfaction, accessibility, and profitability.</a:t>
            </a:r>
          </a:p>
          <a:p>
            <a:pPr>
              <a:spcAft>
                <a:spcPts val="900"/>
              </a:spcAft>
              <a:defRPr sz="2300">
                <a:solidFill>
                  <a:srgbClr val="232323"/>
                </a:solidFill>
                <a:latin typeface="Calibri"/>
              </a:defRPr>
            </a:pPr>
            <a:r>
              <a:t>• Solution Approach — Approximation algorithms help evaluate candidate locations efficiently.</a:t>
            </a:r>
          </a:p>
          <a:p>
            <a:pPr>
              <a:spcAft>
                <a:spcPts val="900"/>
              </a:spcAft>
              <a:defRPr sz="2300">
                <a:solidFill>
                  <a:srgbClr val="232323"/>
                </a:solidFill>
                <a:latin typeface="Calibri"/>
              </a:defRPr>
            </a:pPr>
            <a:r>
              <a:t>• Expected Outcome — Near-optimal solutions with reduced computational complexity.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nchor="t">
            <a:spAutoFit/>
          </a:bodyPr>
          <a:lstStyle/>
          <a:p>
            <a:pPr algn="ctr"/>
            <a:r>
              <a:rPr sz="3000" b="1">
                <a:solidFill>
                  <a:srgbClr val="FFFFFF"/>
                </a:solidFill>
                <a:latin typeface="Calibri"/>
              </a:rPr>
              <a:t>Literature Survey</a:t>
            </a:r>
          </a:p>
        </p:txBody>
      </p:sp>
      <p:sp>
        <p:nvSpPr>
          <p:cNvPr id="4" name="TextBox 3"/>
          <p:cNvSpPr txBox="1"/>
          <p:nvPr/>
        </p:nvSpPr>
        <p:spPr>
          <a:xfrm>
            <a:off x="2331720" y="1234440"/>
            <a:ext cx="8549640" cy="4754880"/>
          </a:xfrm>
          <a:prstGeom prst="rect">
            <a:avLst/>
          </a:prstGeom>
          <a:noFill/>
        </p:spPr>
        <p:txBody>
          <a:bodyPr wrap="square" anchor="t">
            <a:spAutoFit/>
          </a:bodyPr>
          <a:lstStyle/>
          <a:p>
            <a:pPr>
              <a:spcAft>
                <a:spcPts val="900"/>
              </a:spcAft>
              <a:defRPr sz="2000">
                <a:solidFill>
                  <a:srgbClr val="232323"/>
                </a:solidFill>
                <a:latin typeface="Calibri"/>
              </a:defRPr>
            </a:pPr>
            <a:r>
              <a:rPr sz="1900"/>
              <a:t>• The Facility Location Problem is a foundational optimization problem in operations research and computer science.</a:t>
            </a:r>
          </a:p>
          <a:p>
            <a:pPr>
              <a:spcAft>
                <a:spcPts val="900"/>
              </a:spcAft>
              <a:defRPr sz="2000">
                <a:solidFill>
                  <a:srgbClr val="232323"/>
                </a:solidFill>
                <a:latin typeface="Calibri"/>
              </a:defRPr>
            </a:pPr>
            <a:r>
              <a:rPr sz="1900"/>
              <a:t>• It combines facility opening costs and customer servicing costs into a single objective.</a:t>
            </a:r>
          </a:p>
          <a:p>
            <a:pPr>
              <a:spcAft>
                <a:spcPts val="900"/>
              </a:spcAft>
              <a:defRPr sz="2000">
                <a:solidFill>
                  <a:srgbClr val="232323"/>
                </a:solidFill>
                <a:latin typeface="Calibri"/>
              </a:defRPr>
            </a:pPr>
            <a:r>
              <a:rPr sz="1900"/>
              <a:t>• It has broad applications in retail expansion, logistics, and network design.</a:t>
            </a:r>
          </a:p>
          <a:p>
            <a:pPr>
              <a:spcAft>
                <a:spcPts val="900"/>
              </a:spcAft>
              <a:defRPr sz="2000">
                <a:solidFill>
                  <a:srgbClr val="232323"/>
                </a:solidFill>
                <a:latin typeface="Calibri"/>
              </a:defRPr>
            </a:pPr>
            <a:r>
              <a:rPr sz="1900"/>
              <a:t>• Approximation algorithms are practical for large-scale instances where exact optimization is computationally expensive.</a:t>
            </a:r>
          </a:p>
          <a:p>
            <a:pPr>
              <a:spcAft>
                <a:spcPts val="900"/>
              </a:spcAft>
              <a:defRPr sz="2000">
                <a:solidFill>
                  <a:srgbClr val="232323"/>
                </a:solidFill>
                <a:latin typeface="Calibri"/>
              </a:defRPr>
            </a:pPr>
            <a:r>
              <a:rPr sz="1900"/>
              <a:t>• These methods provide scalable solutions while balancing cost and service quality.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nchor="t">
            <a:spAutoFit/>
          </a:bodyPr>
          <a:lstStyle/>
          <a:p>
            <a:pPr algn="ctr"/>
            <a:r>
              <a:rPr sz="3000" b="1">
                <a:solidFill>
                  <a:srgbClr val="FFFFFF"/>
                </a:solidFill>
                <a:latin typeface="Calibri"/>
              </a:rPr>
              <a:t>Problem Statement and Objectives</a:t>
            </a:r>
          </a:p>
        </p:txBody>
      </p:sp>
      <p:sp>
        <p:nvSpPr>
          <p:cNvPr id="4" name="TextBox 3"/>
          <p:cNvSpPr txBox="1"/>
          <p:nvPr/>
        </p:nvSpPr>
        <p:spPr>
          <a:xfrm>
            <a:off x="2331720" y="1234440"/>
            <a:ext cx="8549640" cy="4754880"/>
          </a:xfrm>
          <a:prstGeom prst="rect">
            <a:avLst/>
          </a:prstGeom>
          <a:noFill/>
        </p:spPr>
        <p:txBody>
          <a:bodyPr wrap="square" anchor="t">
            <a:spAutoFit/>
          </a:bodyPr>
          <a:lstStyle/>
          <a:p>
            <a:pPr>
              <a:spcAft>
                <a:spcPts val="900"/>
              </a:spcAft>
              <a:defRPr sz="1900">
                <a:solidFill>
                  <a:srgbClr val="232323"/>
                </a:solidFill>
                <a:latin typeface="Calibri"/>
              </a:defRPr>
            </a:pPr>
            <a:r>
              <a:rPr sz="1800"/>
              <a:t>• Objective: Select a set of store locations that minimizes combined facility opening cost and customer travel/servicing cost.</a:t>
            </a:r>
          </a:p>
          <a:p>
            <a:pPr>
              <a:spcAft>
                <a:spcPts val="900"/>
              </a:spcAft>
              <a:defRPr sz="1900">
                <a:solidFill>
                  <a:srgbClr val="232323"/>
                </a:solidFill>
                <a:latin typeface="Calibri"/>
              </a:defRPr>
            </a:pPr>
            <a:r>
              <a:rPr sz="1800"/>
              <a:t>• Scalability challenge — exact solutions are expensive for large-scale instances.</a:t>
            </a:r>
          </a:p>
          <a:p>
            <a:pPr>
              <a:spcAft>
                <a:spcPts val="900"/>
              </a:spcAft>
              <a:defRPr sz="1900">
                <a:solidFill>
                  <a:srgbClr val="232323"/>
                </a:solidFill>
                <a:latin typeface="Calibri"/>
              </a:defRPr>
            </a:pPr>
            <a:r>
              <a:rPr sz="1800"/>
              <a:t>• Develop Greedy approximation algorithms for the Uncapacitated Facility Location Problem.</a:t>
            </a:r>
          </a:p>
          <a:p>
            <a:pPr>
              <a:spcAft>
                <a:spcPts val="900"/>
              </a:spcAft>
              <a:defRPr sz="1900">
                <a:solidFill>
                  <a:srgbClr val="232323"/>
                </a:solidFill>
                <a:latin typeface="Calibri"/>
              </a:defRPr>
            </a:pPr>
            <a:r>
              <a:rPr sz="1800"/>
              <a:t>• Develop Primal-Dual approximation algorithms for improved performance guarantees.</a:t>
            </a:r>
          </a:p>
          <a:p>
            <a:pPr>
              <a:spcAft>
                <a:spcPts val="900"/>
              </a:spcAft>
              <a:defRPr sz="1900">
                <a:solidFill>
                  <a:srgbClr val="232323"/>
                </a:solidFill>
                <a:latin typeface="Calibri"/>
              </a:defRPr>
            </a:pPr>
            <a:r>
              <a:rPr sz="1800"/>
              <a:t>• Benchmark against ILP-based optimal solutions.</a:t>
            </a:r>
          </a:p>
          <a:p>
            <a:pPr>
              <a:spcAft>
                <a:spcPts val="900"/>
              </a:spcAft>
              <a:defRPr sz="1900">
                <a:solidFill>
                  <a:srgbClr val="232323"/>
                </a:solidFill>
                <a:latin typeface="Calibri"/>
              </a:defRPr>
            </a:pPr>
            <a:r>
              <a:rPr sz="1800"/>
              <a:t>• Measure cost efficiency and approximation ratios.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nchor="t">
            <a:spAutoFit/>
          </a:bodyPr>
          <a:lstStyle/>
          <a:p>
            <a:pPr algn="ctr"/>
            <a:r>
              <a:rPr sz="3000" b="1">
                <a:solidFill>
                  <a:srgbClr val="FFFFFF"/>
                </a:solidFill>
                <a:latin typeface="Calibri"/>
              </a:rPr>
              <a:t>Algorithms &amp; Approach</a:t>
            </a:r>
          </a:p>
        </p:txBody>
      </p:sp>
      <p:sp>
        <p:nvSpPr>
          <p:cNvPr id="4" name="TextBox 3"/>
          <p:cNvSpPr txBox="1"/>
          <p:nvPr/>
        </p:nvSpPr>
        <p:spPr>
          <a:xfrm>
            <a:off x="2331720" y="1234440"/>
            <a:ext cx="8549640" cy="4754880"/>
          </a:xfrm>
          <a:prstGeom prst="rect">
            <a:avLst/>
          </a:prstGeom>
          <a:noFill/>
        </p:spPr>
        <p:txBody>
          <a:bodyPr wrap="square" anchor="t">
            <a:spAutoFit/>
          </a:bodyPr>
          <a:lstStyle/>
          <a:p>
            <a:pPr>
              <a:spcAft>
                <a:spcPts val="900"/>
              </a:spcAft>
              <a:defRPr sz="2000">
                <a:solidFill>
                  <a:srgbClr val="232323"/>
                </a:solidFill>
                <a:latin typeface="Calibri"/>
              </a:defRPr>
            </a:pPr>
            <a:r>
              <a:rPr sz="1900"/>
              <a:t>• Greedy Algorithm — Iteratively selects the facilities that deliver the best cost reduction. It is fast, practical, and well suited for scalable use.</a:t>
            </a:r>
          </a:p>
          <a:p>
            <a:pPr>
              <a:spcAft>
                <a:spcPts val="900"/>
              </a:spcAft>
              <a:defRPr sz="2000">
                <a:solidFill>
                  <a:srgbClr val="232323"/>
                </a:solidFill>
                <a:latin typeface="Calibri"/>
              </a:defRPr>
            </a:pPr>
            <a:r>
              <a:rPr sz="1900"/>
              <a:t>• Primal-Dual Algorithm — Uses linear programming relaxation to produce near-optimal solutions with stronger guarantees, at the cost of more computation.</a:t>
            </a:r>
          </a:p>
          <a:p>
            <a:pPr>
              <a:spcAft>
                <a:spcPts val="900"/>
              </a:spcAft>
              <a:defRPr sz="2000">
                <a:solidFill>
                  <a:srgbClr val="232323"/>
                </a:solidFill>
                <a:latin typeface="Calibri"/>
              </a:defRPr>
            </a:pPr>
            <a:r>
              <a:rPr sz="1900"/>
              <a:t>• Two complementary approximation algorithms balance practical speed with solution quality.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nchor="t">
            <a:spAutoFit/>
          </a:bodyPr>
          <a:lstStyle/>
          <a:p>
            <a:pPr algn="ctr"/>
            <a:r>
              <a:rPr sz="3000" b="1">
                <a:solidFill>
                  <a:srgbClr val="FFFFFF"/>
                </a:solidFill>
                <a:latin typeface="Calibri"/>
              </a:rPr>
              <a:t>Results</a:t>
            </a:r>
            <a:endParaRPr lang="en-US" sz="3200" b="1" dirty="0">
              <a:solidFill>
                <a:schemeClr val="bg1"/>
              </a:solidFill>
            </a:endParaRPr>
          </a:p>
        </p:txBody>
      </p:sp>
      <p:sp>
        <p:nvSpPr>
          <p:cNvPr id="4" name="TextBox 3"/>
          <p:cNvSpPr txBox="1"/>
          <p:nvPr/>
        </p:nvSpPr>
        <p:spPr>
          <a:xfrm>
            <a:off x="2331720" y="1234440"/>
            <a:ext cx="8549640" cy="4754880"/>
          </a:xfrm>
          <a:prstGeom prst="rect">
            <a:avLst/>
          </a:prstGeom>
          <a:noFill/>
        </p:spPr>
        <p:txBody>
          <a:bodyPr wrap="square" anchor="t">
            <a:spAutoFit/>
          </a:bodyPr>
          <a:lstStyle/>
          <a:p>
            <a:pPr>
              <a:spcAft>
                <a:spcPts val="900"/>
              </a:spcAft>
              <a:defRPr sz="1800">
                <a:solidFill>
                  <a:srgbClr val="232323"/>
                </a:solidFill>
                <a:latin typeface="Calibri"/>
              </a:defRPr>
            </a:pPr>
            <a:r>
              <a:rPr sz="1700"/>
              <a:t>• Both algorithms were rigorously tested and benchmarked against ILP-based optimal solutions on standard test datasets, demonstrating meaningful cost savings and scalability.</a:t>
            </a:r>
          </a:p>
          <a:p>
            <a:pPr>
              <a:spcAft>
                <a:spcPts val="900"/>
              </a:spcAft>
              <a:defRPr sz="1800">
                <a:solidFill>
                  <a:srgbClr val="232323"/>
                </a:solidFill>
                <a:latin typeface="Calibri"/>
              </a:defRPr>
            </a:pPr>
            <a:r>
              <a:rPr sz="1700"/>
              <a:t>• Greedy algorithm provides fast, practical solutions with reasonable approximation ratios.</a:t>
            </a:r>
          </a:p>
          <a:p>
            <a:pPr>
              <a:spcAft>
                <a:spcPts val="900"/>
              </a:spcAft>
              <a:defRPr sz="1800">
                <a:solidFill>
                  <a:srgbClr val="232323"/>
                </a:solidFill>
                <a:latin typeface="Calibri"/>
              </a:defRPr>
            </a:pPr>
            <a:r>
              <a:rPr sz="1700"/>
              <a:t>• Primal-Dual algorithm achieves better approximation guarantees.</a:t>
            </a:r>
          </a:p>
          <a:p>
            <a:pPr>
              <a:spcAft>
                <a:spcPts val="900"/>
              </a:spcAft>
              <a:defRPr sz="1800">
                <a:solidFill>
                  <a:srgbClr val="232323"/>
                </a:solidFill>
                <a:latin typeface="Calibri"/>
              </a:defRPr>
            </a:pPr>
            <a:r>
              <a:rPr sz="1700"/>
              <a:t>• Solutions were benchmarked against ILP-based optimal solutions.</a:t>
            </a:r>
          </a:p>
          <a:p>
            <a:pPr>
              <a:spcAft>
                <a:spcPts val="900"/>
              </a:spcAft>
              <a:defRPr sz="1800">
                <a:solidFill>
                  <a:srgbClr val="232323"/>
                </a:solidFill>
                <a:latin typeface="Calibri"/>
              </a:defRPr>
            </a:pPr>
            <a:r>
              <a:rPr sz="1700"/>
              <a:t>• Demonstrates significant cost savings versus naive selection.</a:t>
            </a:r>
          </a:p>
          <a:p>
            <a:pPr>
              <a:spcAft>
                <a:spcPts val="900"/>
              </a:spcAft>
              <a:defRPr sz="1800">
                <a:solidFill>
                  <a:srgbClr val="232323"/>
                </a:solidFill>
                <a:latin typeface="Calibri"/>
              </a:defRPr>
            </a:pPr>
            <a:r>
              <a:rPr sz="1700"/>
              <a:t>• Scalable approach suitable for real-world retail networks.</a:t>
            </a:r>
          </a:p>
          <a:p>
            <a:pPr>
              <a:spcAft>
                <a:spcPts val="900"/>
              </a:spcAft>
              <a:defRPr sz="1800">
                <a:solidFill>
                  <a:srgbClr val="232323"/>
                </a:solidFill>
                <a:latin typeface="Calibri"/>
              </a:defRPr>
            </a:pPr>
            <a:r>
              <a:rPr sz="1700"/>
              <a:t>• Clear trade-off analysis between speed and accuracy.</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nchor="t">
            <a:spAutoFit/>
          </a:bodyPr>
          <a:lstStyle/>
          <a:p>
            <a:pPr algn="ctr"/>
            <a:r>
              <a:rPr sz="3000" b="1">
                <a:solidFill>
                  <a:srgbClr val="FFFFFF"/>
                </a:solidFill>
                <a:latin typeface="Calibri"/>
              </a:rPr>
              <a:t>Hardware and Software Requirements</a:t>
            </a:r>
            <a:endParaRPr lang="en-US" sz="2800" b="1" dirty="0">
              <a:solidFill>
                <a:schemeClr val="bg1"/>
              </a:solidFill>
            </a:endParaRPr>
          </a:p>
        </p:txBody>
      </p:sp>
      <p:sp>
        <p:nvSpPr>
          <p:cNvPr id="4" name="TextBox 3"/>
          <p:cNvSpPr txBox="1"/>
          <p:nvPr/>
        </p:nvSpPr>
        <p:spPr>
          <a:xfrm>
            <a:off x="2331720" y="1234440"/>
            <a:ext cx="8549640" cy="4754880"/>
          </a:xfrm>
          <a:prstGeom prst="rect">
            <a:avLst/>
          </a:prstGeom>
          <a:noFill/>
        </p:spPr>
        <p:txBody>
          <a:bodyPr wrap="square" anchor="t">
            <a:spAutoFit/>
          </a:bodyPr>
          <a:lstStyle/>
          <a:p>
            <a:pPr>
              <a:spcAft>
                <a:spcPts val="900"/>
              </a:spcAft>
              <a:defRPr sz="1700">
                <a:solidFill>
                  <a:srgbClr val="232323"/>
                </a:solidFill>
                <a:latin typeface="Calibri"/>
              </a:defRPr>
            </a:pPr>
            <a:r>
              <a:rPr sz="1600"/>
              <a:t>• OS: Windows 11</a:t>
            </a:r>
          </a:p>
          <a:p>
            <a:pPr>
              <a:spcAft>
                <a:spcPts val="900"/>
              </a:spcAft>
              <a:defRPr sz="1700">
                <a:solidFill>
                  <a:srgbClr val="232323"/>
                </a:solidFill>
                <a:latin typeface="Calibri"/>
              </a:defRPr>
            </a:pPr>
            <a:r>
              <a:rPr sz="1600"/>
              <a:t>• Language: Python 3.13</a:t>
            </a:r>
          </a:p>
          <a:p>
            <a:pPr>
              <a:spcAft>
                <a:spcPts val="900"/>
              </a:spcAft>
              <a:defRPr sz="1700">
                <a:solidFill>
                  <a:srgbClr val="232323"/>
                </a:solidFill>
                <a:latin typeface="Calibri"/>
              </a:defRPr>
            </a:pPr>
            <a:r>
              <a:rPr sz="1600"/>
              <a:t>• IDE: VS Code</a:t>
            </a:r>
          </a:p>
          <a:p>
            <a:pPr>
              <a:spcAft>
                <a:spcPts val="900"/>
              </a:spcAft>
              <a:defRPr sz="1700">
                <a:solidFill>
                  <a:srgbClr val="232323"/>
                </a:solidFill>
                <a:latin typeface="Calibri"/>
              </a:defRPr>
            </a:pPr>
            <a:r>
              <a:rPr sz="1600"/>
              <a:t>• Backend: Flask</a:t>
            </a:r>
          </a:p>
          <a:p>
            <a:pPr>
              <a:spcAft>
                <a:spcPts val="900"/>
              </a:spcAft>
              <a:defRPr sz="1700">
                <a:solidFill>
                  <a:srgbClr val="232323"/>
                </a:solidFill>
                <a:latin typeface="Calibri"/>
              </a:defRPr>
            </a:pPr>
            <a:r>
              <a:rPr sz="1600"/>
              <a:t>• Database: SQLite + Flask-SQLAlchemy</a:t>
            </a:r>
          </a:p>
          <a:p>
            <a:pPr>
              <a:spcAft>
                <a:spcPts val="900"/>
              </a:spcAft>
              <a:defRPr sz="1700">
                <a:solidFill>
                  <a:srgbClr val="232323"/>
                </a:solidFill>
                <a:latin typeface="Calibri"/>
              </a:defRPr>
            </a:pPr>
            <a:r>
              <a:rPr sz="1600"/>
              <a:t>• Frontend: HTML/CSS/JS</a:t>
            </a:r>
          </a:p>
          <a:p>
            <a:pPr>
              <a:spcAft>
                <a:spcPts val="900"/>
              </a:spcAft>
              <a:defRPr sz="1700">
                <a:solidFill>
                  <a:srgbClr val="232323"/>
                </a:solidFill>
                <a:latin typeface="Calibri"/>
              </a:defRPr>
            </a:pPr>
            <a:r>
              <a:rPr sz="1600"/>
              <a:t>• Data Processing: Pandas</a:t>
            </a:r>
          </a:p>
          <a:p>
            <a:pPr>
              <a:spcAft>
                <a:spcPts val="900"/>
              </a:spcAft>
              <a:defRPr sz="1700">
                <a:solidFill>
                  <a:srgbClr val="232323"/>
                </a:solidFill>
                <a:latin typeface="Calibri"/>
              </a:defRPr>
            </a:pPr>
            <a:r>
              <a:rPr sz="1600"/>
              <a:t>• Graph/DSA: NetworkX</a:t>
            </a:r>
          </a:p>
          <a:p>
            <a:pPr>
              <a:spcAft>
                <a:spcPts val="900"/>
              </a:spcAft>
              <a:defRPr sz="1700">
                <a:solidFill>
                  <a:srgbClr val="232323"/>
                </a:solidFill>
                <a:latin typeface="Calibri"/>
              </a:defRPr>
            </a:pPr>
            <a:r>
              <a:rPr sz="1600"/>
              <a:t>• Visualization: Matplotlib</a:t>
            </a:r>
          </a:p>
          <a:p>
            <a:pPr>
              <a:spcAft>
                <a:spcPts val="900"/>
              </a:spcAft>
              <a:defRPr sz="1700">
                <a:solidFill>
                  <a:srgbClr val="232323"/>
                </a:solidFill>
                <a:latin typeface="Calibri"/>
              </a:defRPr>
            </a:pPr>
            <a:r>
              <a:rPr sz="1600"/>
              <a:t>• Browser: Chrome/Edge</a:t>
            </a:r>
          </a:p>
          <a:p>
            <a:pPr>
              <a:spcAft>
                <a:spcPts val="900"/>
              </a:spcAft>
              <a:defRPr sz="1700">
                <a:solidFill>
                  <a:srgbClr val="232323"/>
                </a:solidFill>
                <a:latin typeface="Calibri"/>
              </a:defRPr>
            </a:pPr>
            <a:r>
              <a:rPr sz="1600"/>
              <a:t>• Package Manager: pip + venv</a:t>
            </a:r>
          </a:p>
          <a:p>
            <a:pPr>
              <a:spcAft>
                <a:spcPts val="900"/>
              </a:spcAft>
              <a:defRPr sz="1700">
                <a:solidFill>
                  <a:srgbClr val="232323"/>
                </a:solidFill>
                <a:latin typeface="Calibri"/>
              </a:defRPr>
            </a:pPr>
            <a:r>
              <a:rPr sz="1600"/>
              <a:t>• Version Control: Git/GitHub</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nchor="t">
            <a:spAutoFit/>
          </a:bodyPr>
          <a:lstStyle/>
          <a:p>
            <a:pPr algn="ctr"/>
            <a:r>
              <a:rPr sz="3000" b="1">
                <a:solidFill>
                  <a:srgbClr val="FFFFFF"/>
                </a:solidFill>
                <a:latin typeface="Calibri"/>
              </a:rPr>
              <a:t>Conclusion</a:t>
            </a:r>
          </a:p>
        </p:txBody>
      </p:sp>
      <p:sp>
        <p:nvSpPr>
          <p:cNvPr id="4" name="TextBox 3"/>
          <p:cNvSpPr txBox="1"/>
          <p:nvPr/>
        </p:nvSpPr>
        <p:spPr>
          <a:xfrm>
            <a:off x="2331720" y="1234440"/>
            <a:ext cx="8549640" cy="4754880"/>
          </a:xfrm>
          <a:prstGeom prst="rect">
            <a:avLst/>
          </a:prstGeom>
          <a:noFill/>
        </p:spPr>
        <p:txBody>
          <a:bodyPr wrap="square" anchor="t">
            <a:spAutoFit/>
          </a:bodyPr>
          <a:lstStyle/>
          <a:p>
            <a:pPr>
              <a:spcAft>
                <a:spcPts val="1000"/>
              </a:spcAft>
              <a:defRPr sz="2300">
                <a:solidFill>
                  <a:srgbClr val="232323"/>
                </a:solidFill>
                <a:latin typeface="Calibri"/>
              </a:defRPr>
            </a:pPr>
            <a:r>
              <a:t>Approximation algorithms provide an effective and practical way to solve the Facility Location Problem. They deliver near-optimal results with strong efficiency, making them well suited for real-world retail expansion and store location decisions at scale.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nchor="t">
            <a:spAutoFit/>
          </a:bodyPr>
          <a:lstStyle/>
          <a:p>
            <a:pPr algn="ctr"/>
            <a:r>
              <a:rPr sz="3000" b="1">
                <a:solidFill>
                  <a:srgbClr val="FFFFFF"/>
                </a:solidFill>
                <a:latin typeface="Calibri"/>
              </a:rPr>
              <a:t>Future Scope</a:t>
            </a:r>
          </a:p>
        </p:txBody>
      </p:sp>
      <p:sp>
        <p:nvSpPr>
          <p:cNvPr id="5" name="TextBox 4"/>
          <p:cNvSpPr txBox="1"/>
          <p:nvPr/>
        </p:nvSpPr>
        <p:spPr>
          <a:xfrm>
            <a:off x="2331720" y="1234440"/>
            <a:ext cx="8549640" cy="4754880"/>
          </a:xfrm>
          <a:prstGeom prst="rect">
            <a:avLst/>
          </a:prstGeom>
          <a:noFill/>
        </p:spPr>
        <p:txBody>
          <a:bodyPr wrap="square" anchor="t">
            <a:spAutoFit/>
          </a:bodyPr>
          <a:lstStyle/>
          <a:p>
            <a:pPr>
              <a:spcAft>
                <a:spcPts val="900"/>
              </a:spcAft>
              <a:defRPr sz="2000">
                <a:solidFill>
                  <a:srgbClr val="232323"/>
                </a:solidFill>
                <a:latin typeface="Calibri"/>
              </a:defRPr>
            </a:pPr>
            <a:r>
              <a:rPr sz="1900"/>
              <a:t>• Extend to capacitated facility location.</a:t>
            </a:r>
          </a:p>
          <a:p>
            <a:pPr>
              <a:spcAft>
                <a:spcPts val="900"/>
              </a:spcAft>
              <a:defRPr sz="2000">
                <a:solidFill>
                  <a:srgbClr val="232323"/>
                </a:solidFill>
                <a:latin typeface="Calibri"/>
              </a:defRPr>
            </a:pPr>
            <a:r>
              <a:rPr sz="1900"/>
              <a:t>• Incorporate dynamic customer demand.</a:t>
            </a:r>
          </a:p>
          <a:p>
            <a:pPr>
              <a:spcAft>
                <a:spcPts val="900"/>
              </a:spcAft>
              <a:defRPr sz="2000">
                <a:solidFill>
                  <a:srgbClr val="232323"/>
                </a:solidFill>
                <a:latin typeface="Calibri"/>
              </a:defRPr>
            </a:pPr>
            <a:r>
              <a:rPr sz="1900"/>
              <a:t>• Integrate machine learning for prediction.</a:t>
            </a:r>
          </a:p>
          <a:p>
            <a:pPr>
              <a:spcAft>
                <a:spcPts val="900"/>
              </a:spcAft>
              <a:defRPr sz="2000">
                <a:solidFill>
                  <a:srgbClr val="232323"/>
                </a:solidFill>
                <a:latin typeface="Calibri"/>
              </a:defRPr>
            </a:pPr>
            <a:r>
              <a:rPr sz="1900"/>
              <a:t>• Develop mobile/web interface.</a:t>
            </a:r>
          </a:p>
          <a:p>
            <a:pPr>
              <a:spcAft>
                <a:spcPts val="900"/>
              </a:spcAft>
              <a:defRPr sz="2000">
                <a:solidFill>
                  <a:srgbClr val="232323"/>
                </a:solidFill>
                <a:latin typeface="Calibri"/>
              </a:defRPr>
            </a:pPr>
            <a:r>
              <a:rPr sz="1900"/>
              <a:t>• Scale to large real-world datasets.</a:t>
            </a:r>
          </a:p>
          <a:p>
            <a:pPr>
              <a:spcAft>
                <a:spcPts val="900"/>
              </a:spcAft>
              <a:defRPr sz="2000">
                <a:solidFill>
                  <a:srgbClr val="232323"/>
                </a:solidFill>
                <a:latin typeface="Calibri"/>
              </a:defRPr>
            </a:pPr>
            <a:r>
              <a:rPr sz="1900"/>
              <a:t>• Add GPS/traffic integration.</a:t>
            </a:r>
          </a:p>
          <a:p>
            <a:pPr>
              <a:spcAft>
                <a:spcPts val="900"/>
              </a:spcAft>
              <a:defRPr sz="2000">
                <a:solidFill>
                  <a:srgbClr val="232323"/>
                </a:solidFill>
                <a:latin typeface="Calibri"/>
              </a:defRPr>
            </a:pPr>
            <a:r>
              <a:rPr sz="1900"/>
              <a:t>• AI-based demand prediction.</a:t>
            </a:r>
          </a:p>
          <a:p>
            <a:pPr>
              <a:spcAft>
                <a:spcPts val="900"/>
              </a:spcAft>
              <a:defRPr sz="2000">
                <a:solidFill>
                  <a:srgbClr val="232323"/>
                </a:solidFill>
                <a:latin typeface="Calibri"/>
              </a:defRPr>
            </a:pPr>
            <a:r>
              <a:rPr sz="1900"/>
              <a:t>• Cloud deployment.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t" wrap="square"/>
          <a:lstStyle/>
          <a:p>
            <a:pPr algn="ctr"/>
            <a:r>
              <a:rPr sz="4000" b="1">
                <a:solidFill>
                  <a:srgbClr val="BE0000"/>
                </a:solidFill>
                <a:latin typeface="Calibri"/>
              </a:rPr>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19</cp:revision>
  <dcterms:created xsi:type="dcterms:W3CDTF">2024-08-29T05:25:00Z</dcterms:created>
  <dcterms:modified xsi:type="dcterms:W3CDTF">2026-08-20T05:50:30Z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